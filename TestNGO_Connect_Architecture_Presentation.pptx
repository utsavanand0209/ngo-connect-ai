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91695" cy="4572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NGO-Connect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688"/>
                </a:solidFill>
                <a:latin typeface="Calibri"/>
              </a:defRPr>
            </a:pPr>
            <a:r>
              <a:t>Design &amp; Architecture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EC5"/>
                </a:solidFill>
                <a:latin typeface="Calibri"/>
              </a:defRPr>
            </a:pPr>
            <a:r>
              <a:t>Connecting NGOs • Donors • Volunteers • Administrators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8909C"/>
                </a:solidFill>
                <a:latin typeface="Calibri"/>
              </a:defRPr>
            </a:pPr>
            <a:r>
              <a:t>February 2026  |  Stakeholder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1D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1D51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1.  Platform Overview &amp; Value Proposition</a:t>
            </a:r>
          </a:p>
          <a:p>
            <a:pPr>
              <a:spcAft>
                <a:spcPts val="10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2.  System Architecture &amp; Technology Stack</a:t>
            </a:r>
          </a:p>
          <a:p>
            <a:pPr>
              <a:spcAft>
                <a:spcPts val="10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3.  User Roles &amp; Access Control</a:t>
            </a:r>
          </a:p>
          <a:p>
            <a:pPr>
              <a:spcAft>
                <a:spcPts val="10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4.  Core Feature Modules</a:t>
            </a:r>
          </a:p>
          <a:p>
            <a:pPr>
              <a:spcAft>
                <a:spcPts val="10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5.  Database Design</a:t>
            </a:r>
          </a:p>
          <a:p>
            <a:pPr>
              <a:spcAft>
                <a:spcPts val="10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6.  REST API Surface (89 Endpoints)</a:t>
            </a:r>
          </a:p>
          <a:p>
            <a:pPr>
              <a:spcAft>
                <a:spcPts val="10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7.  Key Workflows (Donations, Volunteering, Moderation)</a:t>
            </a:r>
          </a:p>
          <a:p>
            <a:pPr>
              <a:spcAft>
                <a:spcPts val="10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8.  AI &amp; Recommendation Engine</a:t>
            </a:r>
          </a:p>
          <a:p>
            <a:pPr>
              <a:spcAft>
                <a:spcPts val="10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9.  Frontend Application Structure</a:t>
            </a:r>
          </a:p>
          <a:p>
            <a:pPr>
              <a:spcAft>
                <a:spcPts val="10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10. Deployment &amp; Configuration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1D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1D51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1A2E"/>
                </a:solidFill>
                <a:latin typeface="Calibri"/>
              </a:defRPr>
            </a:pPr>
            <a:r>
              <a:t>NGO-Connect is a full-stack web platform bridging NGOs, donors, volunteers, and administrators. It enables transparent donations with payment processing, volunteer management with certificate issuance, AI-powered recommendations, and comprehensive platform administration.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22860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1E88E5"/>
                </a:solidFill>
                <a:latin typeface="Calibri"/>
              </a:defRPr>
            </a:pPr>
            <a:r>
              <a:t>89</a:t>
            </a:r>
          </a:p>
          <a:p>
            <a:pPr algn="ctr">
              <a:defRPr sz="1400">
                <a:solidFill>
                  <a:srgbClr val="555555"/>
                </a:solidFill>
                <a:latin typeface="Calibri"/>
              </a:defRPr>
            </a:pPr>
            <a:r>
              <a:t>REST API</a:t>
            </a:r>
            <a:br/>
            <a:r>
              <a:t>Endpoints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2926080"/>
            <a:ext cx="22860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9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09688"/>
                </a:solidFill>
                <a:latin typeface="Calibri"/>
              </a:defRPr>
            </a:pPr>
            <a:r>
              <a:t>13</a:t>
            </a:r>
          </a:p>
          <a:p>
            <a:pPr algn="ctr">
              <a:defRPr sz="1400">
                <a:solidFill>
                  <a:srgbClr val="555555"/>
                </a:solidFill>
                <a:latin typeface="Calibri"/>
              </a:defRPr>
            </a:pPr>
            <a:r>
              <a:t>Route</a:t>
            </a:r>
            <a:br/>
            <a:r>
              <a:t>Modules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926080"/>
            <a:ext cx="22860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6B35"/>
                </a:solidFill>
                <a:latin typeface="Calibri"/>
              </a:defRPr>
            </a:pPr>
            <a:r>
              <a:t>17</a:t>
            </a:r>
          </a:p>
          <a:p>
            <a:pPr algn="ctr">
              <a:defRPr sz="1400">
                <a:solidFill>
                  <a:srgbClr val="555555"/>
                </a:solidFill>
                <a:latin typeface="Calibri"/>
              </a:defRPr>
            </a:pPr>
            <a:r>
              <a:t>Database</a:t>
            </a:r>
            <a:br/>
            <a:r>
              <a:t>Tables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2926080"/>
            <a:ext cx="22860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7B1FA2"/>
                </a:solidFill>
                <a:latin typeface="Calibri"/>
              </a:defRPr>
            </a:pPr>
            <a:r>
              <a:t>28+</a:t>
            </a:r>
          </a:p>
          <a:p>
            <a:pPr algn="ctr">
              <a:defRPr sz="1400">
                <a:solidFill>
                  <a:srgbClr val="555555"/>
                </a:solidFill>
                <a:latin typeface="Calibri"/>
              </a:defRPr>
            </a:pPr>
            <a:r>
              <a:t>Frontend</a:t>
            </a:r>
            <a:br/>
            <a:r>
              <a:t>Pages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555555"/>
                </a:solidFill>
                <a:latin typeface="Calibri"/>
              </a:defRPr>
            </a:pPr>
            <a:r>
              <a:t>✓  Real payment integration (Razorpay + Mock mode)</a:t>
            </a:r>
          </a:p>
          <a:p>
            <a:pPr>
              <a:spcAft>
                <a:spcPts val="600"/>
              </a:spcAft>
              <a:defRPr sz="1600">
                <a:solidFill>
                  <a:srgbClr val="555555"/>
                </a:solidFill>
                <a:latin typeface="Calibri"/>
              </a:defRPr>
            </a:pPr>
            <a:r>
              <a:t>✓  AI chatbot powered by Google Gemini with RAG</a:t>
            </a:r>
          </a:p>
          <a:p>
            <a:pPr>
              <a:spcAft>
                <a:spcPts val="600"/>
              </a:spcAft>
              <a:defRPr sz="1600">
                <a:solidFill>
                  <a:srgbClr val="555555"/>
                </a:solidFill>
                <a:latin typeface="Calibri"/>
              </a:defRPr>
            </a:pPr>
            <a:r>
              <a:t>✓  Role-based access: User, NGO, Admin</a:t>
            </a:r>
          </a:p>
          <a:p>
            <a:pPr>
              <a:spcAft>
                <a:spcPts val="600"/>
              </a:spcAft>
              <a:defRPr sz="1600">
                <a:solidFill>
                  <a:srgbClr val="555555"/>
                </a:solidFill>
                <a:latin typeface="Calibri"/>
              </a:defRPr>
            </a:pPr>
            <a:r>
              <a:t>✓  Certificate generation for donations &amp; volunteering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36576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EC5"/>
                </a:solidFill>
                <a:latin typeface="Calibri"/>
              </a:defRPr>
            </a:pPr>
            <a:r>
              <a:t>Three-tier design with PostgreSQL backbone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1D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1D51"/>
                </a:solidFill>
                <a:latin typeface="Calibri"/>
              </a:defRPr>
            </a:pPr>
            <a:r>
              <a:t>High-Level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463040"/>
            <a:ext cx="9144000" cy="1417320"/>
          </a:xfrm>
          <a:prstGeom prst="roundRect">
            <a:avLst/>
          </a:prstGeom>
          <a:solidFill>
            <a:srgbClr val="F0F4F8"/>
          </a:solidFill>
          <a:ln w="31750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E88E5"/>
                </a:solidFill>
                <a:latin typeface="Calibri"/>
              </a:defRPr>
            </a:pPr>
            <a:r>
              <a:t>Presentation Tier</a:t>
            </a:r>
          </a:p>
          <a:p>
            <a:pPr algn="ctr">
              <a:defRPr sz="1400">
                <a:solidFill>
                  <a:srgbClr val="555555"/>
                </a:solidFill>
                <a:latin typeface="Calibri"/>
              </a:defRPr>
            </a:pPr>
            <a:r>
              <a:t>React 18 SPA  •  Tailwind CSS  •  Recharts  •  Leaflet Maps</a:t>
            </a:r>
            <a:br/>
            <a:r>
              <a:t>Axios + JWT Auth  •  React Router v6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154680"/>
            <a:ext cx="9144000" cy="1417320"/>
          </a:xfrm>
          <a:prstGeom prst="roundRect">
            <a:avLst/>
          </a:prstGeom>
          <a:solidFill>
            <a:srgbClr val="F0F4F8"/>
          </a:solidFill>
          <a:ln w="31750">
            <a:solidFill>
              <a:srgbClr val="009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9688"/>
                </a:solidFill>
                <a:latin typeface="Calibri"/>
              </a:defRPr>
            </a:pPr>
            <a:r>
              <a:t>Application Tier</a:t>
            </a:r>
          </a:p>
          <a:p>
            <a:pPr algn="ctr">
              <a:defRPr sz="1400">
                <a:solidFill>
                  <a:srgbClr val="555555"/>
                </a:solidFill>
                <a:latin typeface="Calibri"/>
              </a:defRPr>
            </a:pPr>
            <a:r>
              <a:t>Node.js + Express  •  13 Route Modules  •  JWT Middleware</a:t>
            </a:r>
            <a:br/>
            <a:r>
              <a:t>Payment Gateway  •  Gemini AI  •  Certificate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846320"/>
            <a:ext cx="9144000" cy="1417320"/>
          </a:xfrm>
          <a:prstGeom prst="roundRect">
            <a:avLst/>
          </a:prstGeom>
          <a:solidFill>
            <a:srgbClr val="F0F4F8"/>
          </a:solidFill>
          <a:ln w="3175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6B35"/>
                </a:solidFill>
                <a:latin typeface="Calibri"/>
              </a:defRPr>
            </a:pPr>
            <a:r>
              <a:t>Data Tier</a:t>
            </a:r>
          </a:p>
          <a:p>
            <a:pPr algn="ctr">
              <a:defRPr sz="1400">
                <a:solidFill>
                  <a:srgbClr val="555555"/>
                </a:solidFill>
                <a:latin typeface="Calibri"/>
              </a:defRPr>
            </a:pPr>
            <a:r>
              <a:t>PostgreSQL 14+  •  13 Primary Tables + 4 Junction Tables</a:t>
            </a:r>
            <a:br/>
            <a:r>
              <a:t>BIGSERIAL PK + UUID External ID  •  JSONB source_doc  •  Relational FKs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28803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55555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45720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55555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Calibri"/>
              </a:defRPr>
            </a:pPr>
            <a:r>
              <a:t>External Services:  Razorpay Payment API  •  Google Gemini API (gemini-2.5-flash)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1D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1D51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9688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Node.js + Express ^4.22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PostgreSQL 14+ (pg ^8.16)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JWT Auth (jsonwebtoken ^9.0)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bcryptjs ^2.4 (password hashing)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Multer ^1.4 (file uploads)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Google Generative AI ^0.24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Razorpay / Mock payments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dotenv + CORS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88E5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React ^18.2 + React Router v6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Axios ^1.4 (HTTP client)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Tailwind CSS ^3.4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Recharts ^2.8 (data viz)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Leaflet ^1.9 + react-leaflet ^4.2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leaflet-routing-machine ^3.2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Heroicons ^1.0 (icons)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react-scripts ^5.0 (CRA toolchain)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463040"/>
            <a:ext cx="27432" cy="41148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1D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1D51"/>
                </a:solidFill>
                <a:latin typeface="Calibri"/>
              </a:defRPr>
            </a:pPr>
            <a:r>
              <a:t>User Roles &amp; Access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566160" cy="475488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88E5"/>
                </a:solidFill>
                <a:latin typeface="Calibri"/>
              </a:defRPr>
            </a:pPr>
            <a:r>
              <a:t>User (Donor / Volunteer)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Discover &amp; donate to NGO campaigns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Apply for volunteer opportunities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Submit help requests to NGOs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View certificates &amp; receipts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Message NGOs, get AI recommendations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63040"/>
            <a:ext cx="3566160" cy="475488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009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459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88"/>
                </a:solidFill>
                <a:latin typeface="Calibri"/>
              </a:defRPr>
            </a:pPr>
            <a:r>
              <a:t>NGO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860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Manage organization profile &amp; verification docs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Create campaigns &amp; volunteer opportunities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Review &amp; approve certificate requests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Process help requests from users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Message users &amp; manage volunteers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63040"/>
            <a:ext cx="3566160" cy="475488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6459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Calibri"/>
              </a:defRPr>
            </a:pPr>
            <a:r>
              <a:t>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2860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Verify / reject NGO registrations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Moderate flagged content &amp; flag requests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Manage categories &amp; broadcast notifications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Platform analytics &amp; dashboard (JSON + SSR HTML)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User management (delete users, enable/disable NGOs)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Calibri"/>
              </a:defRPr>
            </a:pPr>
            <a:r>
              <a:t>Auth: Stateless JWT (7-day expiry)  •  bcrypt password hashing  •  Role-checked middleware on every route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36576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Core Feature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EC5"/>
                </a:solidFill>
                <a:latin typeface="Calibri"/>
              </a:defRPr>
            </a:pPr>
            <a:r>
              <a:t>Donations • Volunteering • Messaging • Moderation • 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1D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1D51"/>
                </a:solidFill>
                <a:latin typeface="Calibri"/>
              </a:defRPr>
            </a:pPr>
            <a:r>
              <a:t>Feature Modules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56616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88E5"/>
                </a:solidFill>
                <a:latin typeface="Calibri"/>
              </a:defRPr>
            </a:pPr>
            <a:r>
              <a:t>Donations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Campaign-based donations with Razorpay/mock payments,</a:t>
            </a:r>
            <a:br/>
            <a:r>
              <a:t>receipt generation, and NGO-approved certificates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56616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9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600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88"/>
                </a:solidFill>
                <a:latin typeface="Calibri"/>
              </a:defRPr>
            </a:pPr>
            <a:r>
              <a:t>Volunteering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1488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Standalone opportunities + campaign volunteering,</a:t>
            </a:r>
            <a:br/>
            <a:r>
              <a:t>application lifecycle, activity completion &amp; certificates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71600"/>
            <a:ext cx="356616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600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  <a:latin typeface="Calibri"/>
              </a:defRPr>
            </a:pPr>
            <a:r>
              <a:t>Messaging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1488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User-to-NGO and NGO-to-user messaging with</a:t>
            </a:r>
            <a:br/>
            <a:r>
              <a:t>conversation threads, unread counts, and broadcast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31920"/>
            <a:ext cx="356616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1605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3A047"/>
                </a:solidFill>
                <a:latin typeface="Calibri"/>
              </a:defRPr>
            </a:pPr>
            <a:r>
              <a:t>Help Requests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7091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Users submit support requests to NGOs with</a:t>
            </a:r>
            <a:br/>
            <a:r>
              <a:t>status workflow: Pending → Approved → Completed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931920"/>
            <a:ext cx="356616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41605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B1FA2"/>
                </a:solidFill>
                <a:latin typeface="Calibri"/>
              </a:defRPr>
            </a:pPr>
            <a:r>
              <a:t>Moderation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7091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User flag requests for NGOs/campaigns,</a:t>
            </a:r>
            <a:br/>
            <a:r>
              <a:t>admin review &amp; resolution, enable/disable NGOs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931920"/>
            <a:ext cx="356616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41605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53935"/>
                </a:solidFill>
                <a:latin typeface="Calibri"/>
              </a:defRPr>
            </a:pPr>
            <a:r>
              <a:t>AI Intelligence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7091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Personalized recommendations, LLM chatbot with RAG,</a:t>
            </a:r>
            <a:br/>
            <a:r>
              <a:t>campaign classification, fraud scoring, volunteer matching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36576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Database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EC5"/>
                </a:solidFill>
                <a:latin typeface="Calibri"/>
              </a:defRPr>
            </a:pPr>
            <a:r>
              <a:t>Hybrid Document-Relational Pattern on PostgreSQL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1D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1D51"/>
                </a:solidFill>
                <a:latin typeface="Calibri"/>
              </a:defRPr>
            </a:pPr>
            <a:r>
              <a:t>Database Schema (17 Tables)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Calibri"/>
              </a:defRPr>
            </a:pPr>
            <a:r>
              <a:t>Design: BIGSERIAL PK + UUID external_id + Typed relational columns + JSONB source_doc + Foreign Keys + Indexes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88"/>
                </a:solidFill>
                <a:latin typeface="Calibri"/>
              </a:defRPr>
            </a:pPr>
            <a:r>
              <a:t>Primary Tables (13)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users_rel — Platform users (donor, volunteer, admin)</a:t>
            </a:r>
          </a:p>
          <a:p>
            <a:pPr>
              <a:spcAft>
                <a:spcPts val="3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ngos_rel — NGO organizations</a:t>
            </a:r>
          </a:p>
          <a:p>
            <a:pPr>
              <a:spcAft>
                <a:spcPts val="3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categories_rel — NGO/campaign categories</a:t>
            </a:r>
          </a:p>
          <a:p>
            <a:pPr>
              <a:spcAft>
                <a:spcPts val="3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campaigns_rel — Fundraising campaigns → ngos_rel</a:t>
            </a:r>
          </a:p>
          <a:p>
            <a:pPr>
              <a:spcAft>
                <a:spcPts val="3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donations_rel — Financial contributions → users, campaigns, ngos</a:t>
            </a:r>
          </a:p>
          <a:p>
            <a:pPr>
              <a:spcAft>
                <a:spcPts val="3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volunteer_opportunities_rel — Volunteer positions → ngos</a:t>
            </a:r>
          </a:p>
          <a:p>
            <a:pPr>
              <a:spcAft>
                <a:spcPts val="3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volunteer_applications_rel — Applications → users, opportunities</a:t>
            </a:r>
          </a:p>
          <a:p>
            <a:pPr>
              <a:spcAft>
                <a:spcPts val="3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certificates_rel — Donation &amp; volunteer certificates</a:t>
            </a:r>
          </a:p>
          <a:p>
            <a:pPr>
              <a:spcAft>
                <a:spcPts val="3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messages_rel — User ↔ NGO messaging</a:t>
            </a:r>
          </a:p>
          <a:p>
            <a:pPr>
              <a:spcAft>
                <a:spcPts val="3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notifications_rel — Platform notifications</a:t>
            </a:r>
          </a:p>
          <a:p>
            <a:pPr>
              <a:spcAft>
                <a:spcPts val="3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help_requests_rel — Support requests → users, ngos</a:t>
            </a:r>
          </a:p>
          <a:p>
            <a:pPr>
              <a:spcAft>
                <a:spcPts val="3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flag_requests_rel — Content moderation flags</a:t>
            </a:r>
          </a:p>
          <a:p>
            <a:pPr>
              <a:spcAft>
                <a:spcPts val="3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ai_logs_rel — AI operation audit trail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920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  <a:latin typeface="Calibri"/>
              </a:defRPr>
            </a:pPr>
            <a:r>
              <a:t>Junction Tables (4)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46888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ngo_categories_rel</a:t>
            </a:r>
            <a:br/>
            <a:r>
              <a:t>  NGO ↔ Category names</a:t>
            </a:r>
          </a:p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campaign_volunteers_rel</a:t>
            </a:r>
            <a:br/>
            <a:r>
              <a:t>  Campaign ↔ User volunteers</a:t>
            </a:r>
          </a:p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campaign_volunteer_registrations_rel</a:t>
            </a:r>
            <a:br/>
            <a:r>
              <a:t>  Campaign sign-ups with details</a:t>
            </a:r>
          </a:p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opportunity_applicants_rel</a:t>
            </a:r>
            <a:br/>
            <a:r>
              <a:t>  Opportunity ↔ User applicants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4389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88E5"/>
                </a:solidFill>
                <a:latin typeface="Calibri"/>
              </a:defRPr>
            </a:pPr>
            <a:r>
              <a:t>Key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4937760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campaigns → ngos (ngo_id FK)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donations → users, campaigns, ngos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vol. applications → users, opportunities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certificates → donations | vol. applications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messages: from_user ↔ to_ngo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36576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REST API Surface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EC5"/>
                </a:solidFill>
                <a:latin typeface="Calibri"/>
              </a:defRPr>
            </a:pPr>
            <a:r>
              <a:t>89 Endpoints across 13 Route Modules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1D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1D51"/>
                </a:solidFill>
                <a:latin typeface="Calibri"/>
              </a:defRPr>
            </a:pPr>
            <a:r>
              <a:t>API Endpoint Distribution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1371600"/>
            <a:ext cx="5486400" cy="41148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/api/admin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80" y="137160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2011680"/>
            <a:ext cx="3657600" cy="411480"/>
          </a:xfrm>
          <a:prstGeom prst="round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/api/volunteering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01168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88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2651760"/>
            <a:ext cx="3352800" cy="411480"/>
          </a:xfrm>
          <a:prstGeom prst="round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/api/campaigns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50280" y="265176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88E5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3291839"/>
            <a:ext cx="2438400" cy="411480"/>
          </a:xfrm>
          <a:prstGeom prst="round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29183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/api/donations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5880" y="3291839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A047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20" y="3931920"/>
            <a:ext cx="2133600" cy="411480"/>
          </a:xfrm>
          <a:prstGeom prst="roundRect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9319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/api/ngos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31080" y="393192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1FA2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60320" y="4572000"/>
            <a:ext cx="2133600" cy="411480"/>
          </a:xfrm>
          <a:prstGeom prst="round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/api/messages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31080" y="457200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53935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60320" y="5212079"/>
            <a:ext cx="1828800" cy="41148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21207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/api/ai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5212079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300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03920" y="1371600"/>
            <a:ext cx="1524000" cy="411480"/>
          </a:xfrm>
          <a:prstGeom prst="round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13716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/api/categories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5080" y="137160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88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03920" y="2011680"/>
            <a:ext cx="1219200" cy="411480"/>
          </a:xfrm>
          <a:prstGeom prst="round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20116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/api/auth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60280" y="201168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88E5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03920" y="2651760"/>
            <a:ext cx="1219200" cy="41148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26517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/api/requests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60280" y="265176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03920" y="3291839"/>
            <a:ext cx="914400" cy="411480"/>
          </a:xfrm>
          <a:prstGeom prst="round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329183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/api/users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5480" y="3291839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A047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03920" y="3931920"/>
            <a:ext cx="914400" cy="411480"/>
          </a:xfrm>
          <a:prstGeom prst="roundRect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39319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/api/certificates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55480" y="393192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1FA2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03920" y="4572000"/>
            <a:ext cx="304800" cy="411480"/>
          </a:xfrm>
          <a:prstGeom prst="round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45720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/api/notifications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45880" y="457200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55555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035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Calibri"/>
              </a:defRPr>
            </a:pPr>
            <a:r>
              <a:t>Auth: Public | Any Authenticated | User | NGO | Admin  •  Content-Type: application/json  •  File uploads: multipart/form-data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1D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1D51"/>
                </a:solidFill>
                <a:latin typeface="Calibri"/>
              </a:defRPr>
            </a:pPr>
            <a:r>
              <a:t>Key API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Authentication (4 endpoints)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POST /auth/register — User or NGO signup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POST /auth/login — JWT token (7-day expiry)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GET /auth/me — Current user profile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Donations (8 endpoints)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POST /donations/campaign/:id/initiate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POST /donations/:id/confirm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POST /donations/:id/certificate/decision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GET /donations/:id/receipt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AI &amp; Intelligence (6 endpoints)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GET /ai/recommendations — Personalized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POST /ai/chat — LLM chatbot + RAG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POST /ai/classify-campaign — Auto-classify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POST /ai/fraud-score — Risk scoring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Admin Dashboard (18 endpoints)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GET /admin/dashboard — KPI snapshot JSON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GET /admin/dashboard/ssr — Full HTML render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GET /admin/analytics — Charts data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36576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Key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EC5"/>
                </a:solidFill>
                <a:latin typeface="Calibri"/>
              </a:defRPr>
            </a:pPr>
            <a:r>
              <a:t>Donation • Volunteer • Help Request • Moderation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1D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1D51"/>
                </a:solidFill>
                <a:latin typeface="Calibri"/>
              </a:defRPr>
            </a:pPr>
            <a:r>
              <a:t>Donation Workflow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1645920"/>
            <a:ext cx="640080" cy="64008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46888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2E"/>
                </a:solidFill>
                <a:latin typeface="Calibri"/>
              </a:defRPr>
            </a:pPr>
            <a:r>
              <a:t>User selects campaign</a:t>
            </a:r>
            <a:br/>
            <a:r>
              <a:t>&amp; payment 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5555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Oval 7"/>
          <p:cNvSpPr/>
          <p:nvPr/>
        </p:nvSpPr>
        <p:spPr>
          <a:xfrm>
            <a:off x="2788920" y="1645920"/>
            <a:ext cx="640080" cy="6400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46888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2E"/>
                </a:solidFill>
                <a:latin typeface="Calibri"/>
              </a:defRPr>
            </a:pPr>
            <a:r>
              <a:t>POST /initiate</a:t>
            </a:r>
            <a:br/>
            <a:r>
              <a:t>creates payment order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5555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4709160" y="1645920"/>
            <a:ext cx="640080" cy="6400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46888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2E"/>
                </a:solidFill>
                <a:latin typeface="Calibri"/>
              </a:defRPr>
            </a:pPr>
            <a:r>
              <a:t>Payment gateway</a:t>
            </a:r>
            <a:br/>
            <a:r>
              <a:t>processes payment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5555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6629400" y="1645920"/>
            <a:ext cx="640080" cy="640080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46888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2E"/>
                </a:solidFill>
                <a:latin typeface="Calibri"/>
              </a:defRPr>
            </a:pPr>
            <a:r>
              <a:t>POST /confirm</a:t>
            </a:r>
            <a:br/>
            <a:r>
              <a:t>verifies signature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5555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8549640" y="1645920"/>
            <a:ext cx="640080" cy="640080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46888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2E"/>
                </a:solidFill>
                <a:latin typeface="Calibri"/>
              </a:defRPr>
            </a:pPr>
            <a:r>
              <a:t>Receipt generated</a:t>
            </a:r>
            <a:br/>
            <a:r>
              <a:t>campaign updated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5555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10469880" y="1645920"/>
            <a:ext cx="640080" cy="64008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246888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2E"/>
                </a:solidFill>
                <a:latin typeface="Calibri"/>
              </a:defRPr>
            </a:pPr>
            <a:r>
              <a:t>NGO reviews &amp;</a:t>
            </a:r>
            <a:br/>
            <a:r>
              <a:t>approves certificate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555555"/>
                </a:solidFill>
                <a:latin typeface="Calibri"/>
              </a:defRPr>
            </a:pPr>
            <a:r>
              <a:t>Payment Methods: UPI • Credit/Debit Card • Net Banking  |  Gateways: Razorpay (prod) • Mock (dev)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D51"/>
                </a:solidFill>
                <a:latin typeface="Calibri"/>
              </a:defRPr>
            </a:pPr>
            <a:r>
              <a:t>Volunteer Workflow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3949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Browse opportunities / campaign volunteer roles →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Apply with contact details &amp; motivation →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Complete activity &amp; log hours →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Request certificate →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NGO approves → Certificate issued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36576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AI &amp; Recommendation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EC5"/>
                </a:solidFill>
                <a:latin typeface="Calibri"/>
              </a:defRPr>
            </a:pPr>
            <a:r>
              <a:t>Gemini LLM • Rule-Based Scoring • RAG Pipeline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1D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1D51"/>
                </a:solidFill>
                <a:latin typeface="Calibri"/>
              </a:defRPr>
            </a:pPr>
            <a:r>
              <a:t>AI &amp; Intelligence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94960" cy="210312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88E5"/>
                </a:solidFill>
                <a:latin typeface="Calibri"/>
              </a:defRPr>
            </a:pPr>
            <a:r>
              <a:t>Personalized</a:t>
            </a:r>
            <a:br/>
            <a:r>
              <a:t>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Rule-based scoring using user preferences</a:t>
            </a:r>
            <a:br/>
            <a:r>
              <a:t>(location, interests, causes, skills)</a:t>
            </a:r>
            <a:br/>
            <a:r>
              <a:t>matched against NGO sectors &amp; campaigns.</a:t>
            </a:r>
            <a:br/>
            <a:r>
              <a:t>Top 10 each with scores + reasons.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94960" cy="210312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009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88"/>
                </a:solidFill>
                <a:latin typeface="Calibri"/>
              </a:defRPr>
            </a:pPr>
            <a:r>
              <a:t>LLM Chatbot</a:t>
            </a:r>
            <a:br/>
            <a:r>
              <a:t>with RAG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Google Gemini (gemini-2.5-flash)</a:t>
            </a:r>
            <a:br/>
            <a:r>
              <a:t>+ DB retrieval of relevant NGOs/campaigns</a:t>
            </a:r>
            <a:br/>
            <a:r>
              <a:t>+ 13-article Knowledge Base</a:t>
            </a:r>
            <a:br/>
            <a:r>
              <a:t>+ Role-aware prompts + fallback mode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840480"/>
            <a:ext cx="5394960" cy="210312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02336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Calibri"/>
              </a:defRPr>
            </a:pPr>
            <a:r>
              <a:t>Campaign</a:t>
            </a:r>
            <a:br/>
            <a:r>
              <a:t>Classification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6344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Keyword-based auto-categorization:</a:t>
            </a:r>
            <a:br/>
            <a:r>
              <a:t>Education, Health, Food,</a:t>
            </a:r>
            <a:br/>
            <a:r>
              <a:t>Disaster Relief, Environment, Other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840480"/>
            <a:ext cx="5394960" cy="210312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02336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B1FA2"/>
                </a:solidFill>
                <a:latin typeface="Calibri"/>
              </a:defRPr>
            </a:pPr>
            <a:r>
              <a:t>Fraud Scoring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66344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Heuristic analysis: verification docs,</a:t>
            </a:r>
            <a:br/>
            <a:r>
              <a:t>account age, suspicious keywords,</a:t>
            </a:r>
            <a:br/>
            <a:r>
              <a:t>unrealistic goals. Flags if score ≥ 50.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36576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Frontend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EC5"/>
                </a:solidFill>
                <a:latin typeface="Calibri"/>
              </a:defRPr>
            </a:pPr>
            <a:r>
              <a:t>React 18 SPA with 28+ Pages &amp; Role-Based Routing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1D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1D51"/>
                </a:solidFill>
                <a:latin typeface="Calibri"/>
              </a:defRPr>
            </a:pPr>
            <a:r>
              <a:t>Frontend Page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88E5"/>
                </a:solidFill>
                <a:latin typeface="Calibri"/>
              </a:defRPr>
            </a:pPr>
            <a:r>
              <a:t>Public (8)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920240"/>
            <a:ext cx="3566160" cy="41148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Home — Landing with hero CTA, helplines, categories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Login / Register — Dual-mode (user + NGO)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NGO List &amp; Profile — Search, filter, tabs, charts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Campaign List &amp; Details — Donation + volunteer flows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Chatbot — AI support with suggested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3716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88"/>
                </a:solidFill>
                <a:latin typeface="Calibri"/>
              </a:defRPr>
            </a:pPr>
            <a:r>
              <a:t>User (7)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920240"/>
            <a:ext cx="3566160" cy="41148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09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10312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Dashboard — Help requests, donations, volunteers, certs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Donate — Campaign selection, payment, receipts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Volunteer Opportunities — Apply, withdraw, complete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Recommendations — AI-powered with match scores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Messages / Profile / Map — Communication &amp; navigation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3716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  <a:latin typeface="Calibri"/>
              </a:defRPr>
            </a:pPr>
            <a:r>
              <a:t>Admin (7)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920240"/>
            <a:ext cx="3566160" cy="41148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10312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Dashboard — KPI cards, charts, auto-refresh, SSR viewer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Verifications — NGO approval/rejection queue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Flagged Content — Moderation &amp; flag request review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Analytics — Line/bar charts, platform statistics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Users / Notifications / Categories / Requests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Calibri"/>
              </a:defRPr>
            </a:pPr>
            <a:r>
              <a:t>Components: Navbar • ProtectedRoute • UserRoute • AdminRoute • ConfirmModal • PreferencesModal • RecommendedNgos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1D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1D51"/>
                </a:solidFill>
                <a:latin typeface="Calibri"/>
              </a:defRPr>
            </a:pPr>
            <a:r>
              <a:t>Deployment &amp;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88"/>
                </a:solidFill>
                <a:latin typeface="Calibri"/>
              </a:defRPr>
            </a:pPr>
            <a:r>
              <a:t>Backend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PORT = 5001</a:t>
            </a:r>
          </a:p>
          <a:p>
            <a:pPr>
              <a:spcAft>
                <a:spcPts val="5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POSTGRES_URL = postgresql://...</a:t>
            </a:r>
          </a:p>
          <a:p>
            <a:pPr>
              <a:spcAft>
                <a:spcPts val="5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JWT_SECRET = &lt;strong-secret&gt;</a:t>
            </a:r>
          </a:p>
          <a:p>
            <a:pPr>
              <a:spcAft>
                <a:spcPts val="5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GEMINI_API_KEY = &lt;optional&gt;</a:t>
            </a:r>
          </a:p>
          <a:p>
            <a:pPr>
              <a:spcAft>
                <a:spcPts val="5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PAYMENT_GATEWAY_PROVIDER = mock | razorpay</a:t>
            </a:r>
          </a:p>
          <a:p>
            <a:pPr>
              <a:spcAft>
                <a:spcPts val="5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RAZORPAY_KEY_ID = &lt;optional&gt;</a:t>
            </a:r>
          </a:p>
          <a:p>
            <a:pPr>
              <a:spcAft>
                <a:spcPts val="5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RAZORPAY_KEY_SECRET = &lt;optional&gt;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88E5"/>
                </a:solidFill>
                <a:latin typeface="Calibri"/>
              </a:defRPr>
            </a:pPr>
            <a:r>
              <a:t>Setup Commands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npm install</a:t>
            </a:r>
          </a:p>
          <a:p>
            <a:pPr>
              <a:spcAft>
                <a:spcPts val="5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npm run db:relational-schema</a:t>
            </a:r>
          </a:p>
          <a:p>
            <a:pPr>
              <a:spcAft>
                <a:spcPts val="5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npm run seed</a:t>
            </a:r>
          </a:p>
          <a:p>
            <a:pPr>
              <a:spcAft>
                <a:spcPts val="5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npm run dev (backend)</a:t>
            </a:r>
          </a:p>
          <a:p>
            <a:pPr>
              <a:spcAft>
                <a:spcPts val="5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npm start (frontend, port 3000)</a:t>
            </a:r>
          </a:p>
          <a:p>
            <a:pPr>
              <a:spcAft>
                <a:spcPts val="5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npm run smoke (API test)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35"/>
                </a:solidFill>
                <a:latin typeface="Calibri"/>
              </a:defRPr>
            </a:pPr>
            <a:r>
              <a:t>Seed Credentials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206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Admin:  admin@ngoconnect.org  /  password123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User:   rahul@example.com  /  password123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NGO:    akshayapatra@ngo.org  /  password123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4572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688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EC5"/>
                </a:solidFill>
                <a:latin typeface="Calibri"/>
              </a:defRPr>
            </a:pPr>
            <a:r>
              <a:t>89 Endpoints  •  17 Tables  •  28+ Pages  •  AI-Powered</a:t>
            </a:r>
            <a:br/>
            <a:r>
              <a:t>Full details: DESIGN_AND_ARCHITECTURE.md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