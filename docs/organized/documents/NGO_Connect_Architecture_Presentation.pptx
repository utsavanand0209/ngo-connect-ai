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NGO-Connect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88"/>
                </a:solidFill>
                <a:latin typeface="Calibri"/>
              </a:defRPr>
            </a:pPr>
            <a:r>
              <a:t>Design &amp;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Calibri"/>
              </a:defRPr>
            </a:pPr>
            <a:r>
              <a:t>Connecting NGOs • Donors • Volunteers • Administrators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909C"/>
                </a:solidFill>
                <a:latin typeface="Calibri"/>
              </a:defRPr>
            </a:pPr>
            <a:r>
              <a:t>March 10, 2026  |  Stakeholder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1.  Platform Overview &amp; Value Proposition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2.  System Architecture &amp; Technology Stack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3.  User Roles &amp; Access Control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4.  Core Feature Modules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5.  Database Design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6.  REST API Surface (149 Endpoints)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7.  Key Workflows (Donations, Volunteering, Moderation)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8.  AI &amp; Recommendation Engine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9.  Validation Evidence &amp; Quality Metrics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10. Frontend Application Structure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11. Deployment &amp;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NGO-Connect is a full-stack web platform bridging NGOs, donors, volunteers, and administrators. It enables transparent donations, volunteer management, AI-powered recommendations, and an Innovation Center for expanded community engagement.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E88E5"/>
                </a:solidFill>
                <a:latin typeface="Calibri"/>
              </a:defRPr>
            </a:pPr>
            <a:r>
              <a:t>149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REST API</a:t>
            </a:r>
            <a:br/>
            <a:r>
              <a:t>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9260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9688"/>
                </a:solidFill>
                <a:latin typeface="Calibri"/>
              </a:defRPr>
            </a:pPr>
            <a:r>
              <a:t>14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Route</a:t>
            </a:r>
            <a:br/>
            <a:r>
              <a:t>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9260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6B35"/>
                </a:solidFill>
                <a:latin typeface="Calibri"/>
              </a:defRPr>
            </a:pPr>
            <a:r>
              <a:t>35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Database</a:t>
            </a:r>
            <a:br/>
            <a:r>
              <a:t>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9260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B1FA2"/>
                </a:solidFill>
                <a:latin typeface="Calibri"/>
              </a:defRPr>
            </a:pPr>
            <a:r>
              <a:t>31+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Frontend</a:t>
            </a:r>
            <a:br/>
            <a:r>
              <a:t>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✓  Real payment integration (Razorpay + Mock mode)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✓  Innovation Center: Giving Circles, Wishlists, Shifts, CRM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✓  AI chatbot powered by Google Gemini with RAG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✓  Role-based access: User, NGO, Admin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✓  Certificate generation for donations &amp; volunteering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Three-tier design with PostgreSQL backbone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144000" cy="1417320"/>
          </a:xfrm>
          <a:prstGeom prst="roundRect">
            <a:avLst/>
          </a:prstGeom>
          <a:solidFill>
            <a:srgbClr val="F0F4F8"/>
          </a:solidFill>
          <a:ln w="317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88E5"/>
                </a:solidFill>
                <a:latin typeface="Calibri"/>
              </a:defRPr>
            </a:pPr>
            <a:r>
              <a:t>Presentation Tier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React 18 SPA  •  Tailwind CSS  •  Recharts  •  Leaflet Maps</a:t>
            </a:r>
            <a:br/>
            <a:r>
              <a:t>Axios + JWT Auth  •  React Router v6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154680"/>
            <a:ext cx="9144000" cy="1417320"/>
          </a:xfrm>
          <a:prstGeom prst="roundRect">
            <a:avLst/>
          </a:prstGeom>
          <a:solidFill>
            <a:srgbClr val="F0F4F8"/>
          </a:solidFill>
          <a:ln w="317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9688"/>
                </a:solidFill>
                <a:latin typeface="Calibri"/>
              </a:defRPr>
            </a:pPr>
            <a:r>
              <a:t>Application Tier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Node.js + Express  •  14 Route Modules  •  JWT Middleware</a:t>
            </a:r>
            <a:br/>
            <a:r>
              <a:t>Payment Gateway  •  Gemini AI  •  Innovation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846320"/>
            <a:ext cx="9144000" cy="1417320"/>
          </a:xfrm>
          <a:prstGeom prst="roundRect">
            <a:avLst/>
          </a:prstGeom>
          <a:solidFill>
            <a:srgbClr val="F0F4F8"/>
          </a:solidFill>
          <a:ln w="317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6B35"/>
                </a:solidFill>
                <a:latin typeface="Calibri"/>
              </a:defRPr>
            </a:pPr>
            <a:r>
              <a:t>Data Tier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PostgreSQL 14+  •  35 Relational Tables</a:t>
            </a:r>
            <a:br/>
            <a:r>
              <a:t>BIGSERIAL PK + External ID  •  JSONB source_doc  •  FKs for core +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880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External Services:  Razorpay Payment API  •  Google Gemini API  •  Webhook Delivery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Node.js + Express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PostgreSQL 14+ (pg driver)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JWT Auth (jsonwebtoken)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bcryptjs (password hashing)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Multer (file uploads)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Google Generative AI (Gemini)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Razorpay / Mock payments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dotenv + CORS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88E5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React 18 + React Router v6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Axios (HTTP client)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Tailwind CSS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Recharts (data viz)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Leaflet + react-leaflet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leaflet-routing-machine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Heroicons (icons)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react-scripts (CRA toolchain)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63040"/>
            <a:ext cx="27432" cy="4114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User Roles &amp;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7548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88E5"/>
                </a:solidFill>
                <a:latin typeface="Calibri"/>
              </a:defRPr>
            </a:pPr>
            <a:r>
              <a:t>User (Donor / Volunteer)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Discover &amp; donate to NGO campaigns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Apply for volunteer opportunities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Use Innovation Center (circles, wishlists)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View certificates &amp; receipts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Message NGOs, get AI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7548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Manage organization profile &amp; verification docs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Create campaigns &amp; volunteer opportunities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Manage Innovation Center modules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Review &amp; approve certificate requests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Message users &amp; manage volunteers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47548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Verify / reject NGO registrations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Moderate flagged content &amp; flag requests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Manage categories &amp; broadcast notifications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Platform analytics &amp; webhook dashboard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User management (delete users, enable/disable NGOs)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Auth: Stateless JWT (7-day expiry)  •  bcrypt password hashing  •  Role-checked middleware on every route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Core Feature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Donations • Volunteering • Innovation • Moderation •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Feature Modules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88E5"/>
                </a:solidFill>
                <a:latin typeface="Calibri"/>
              </a:defRPr>
            </a:pPr>
            <a:r>
              <a:t>Donations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Campaign-based donations with Razorpay/mock payments,</a:t>
            </a:r>
            <a:br/>
            <a:r>
              <a:t>receipt generation, and NGO-approved certificates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Volunteering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Standalone opportunities + campaign volunteering,</a:t>
            </a:r>
            <a:br/>
            <a:r>
              <a:t>application lifecycle, activity completion &amp; certificates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Messaging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48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User-to-NGO and NGO-to-user messaging with</a:t>
            </a:r>
            <a:br/>
            <a:r>
              <a:t>conversation threads, unread counts, and broadcast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3A047"/>
                </a:solidFill>
                <a:latin typeface="Calibri"/>
              </a:defRPr>
            </a:pPr>
            <a:r>
              <a:t>Innovation Center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Giving circles, wishlists, volunteer shifts, CRM,</a:t>
            </a:r>
            <a:br/>
            <a:r>
              <a:t>corporate matching, impact updates, gamification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160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1FA2"/>
                </a:solidFill>
                <a:latin typeface="Calibri"/>
              </a:defRPr>
            </a:pPr>
            <a:r>
              <a:t>Moderation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User flag requests for NGOs/campaigns,</a:t>
            </a:r>
            <a:br/>
            <a:r>
              <a:t>admin review &amp; resolution, enable/disable NGOs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160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935"/>
                </a:solidFill>
                <a:latin typeface="Calibri"/>
              </a:defRPr>
            </a:pPr>
            <a:r>
              <a:t>AI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Personalized recommendations, LLM chatbot with RAG,</a:t>
            </a:r>
            <a:br/>
            <a:r>
              <a:t>campaign classification, fraud scoring, volunteer matching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Hybrid Document-Relational Pattern on PostgreSQL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Database Schema (35 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Design: BIGSERIAL PK + External ID + Typed relational columns + JSONB source_doc + Foreign Keys + Indexes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Core Table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users_rel, ngos_rel, categories_rel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campaigns_rel, donations_rel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volunteer_opportunities_rel, volunteer_applications_rel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certificates_rel, messages_rel, notifications_rel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help_requests_rel, flag_requests_rel, ai_logs_rel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Innovation &amp; Ops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giving_circles_rel, circle_members_rel, circle_contributions_rel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wishlist_items_rel, in_kind_pledges_rel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volunteer_shifts_rel, volunteer_shift_signups_rel, volunteer_logs_rel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donor_notes_rel, donor_segments_rel, donor_segment_members_rel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impact_updates_rel, corporate_profiles_rel, corporate_matches_rel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volunteer_endorsements_rel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webhook_deliveries_rel (for outbound event reliability)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REST API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149 Endpoints across 14 Route Modules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API Endpoint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371600"/>
            <a:ext cx="5029200" cy="4114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80" y="1371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2857500" cy="41148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4980" y="20116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651760"/>
            <a:ext cx="1600200" cy="411480"/>
          </a:xfrm>
          <a:prstGeom prst="round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8E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291839"/>
            <a:ext cx="1371600" cy="41148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/api/volunteering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29183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A04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931920"/>
            <a:ext cx="1143000" cy="41148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/api/ngos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931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4572000"/>
            <a:ext cx="914400" cy="41148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572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5212079"/>
            <a:ext cx="914400" cy="41148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212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/api/donations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21207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3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1371600"/>
            <a:ext cx="800100" cy="41148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1180" y="1371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2011680"/>
            <a:ext cx="571500" cy="411480"/>
          </a:xfrm>
          <a:prstGeom prst="round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2580" y="20116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8E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2651760"/>
            <a:ext cx="457200" cy="4114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51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3291839"/>
            <a:ext cx="457200" cy="41148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/api/requests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29183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A04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3931920"/>
            <a:ext cx="342900" cy="41148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31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/api/certificates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3980" y="3931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4572000"/>
            <a:ext cx="342900" cy="41148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/api/users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3980" y="4572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5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5212079"/>
            <a:ext cx="228600" cy="41148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12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/api/notifications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521207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8909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Auth: Public | Any Authenticated | User | NGO | Admin  •  Content-Type: application/json  •  File uploads: multipart/form-data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Key API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Authentication (4 endpoints)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/auth/register — User or NGO signup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/auth/login — JWT token (7-day expiry)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/auth/me — Current user profile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Donations (8 endpoints)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/donations/campaign/:id/initiate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/donations/:id/confirm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/donations/:id/certificate/decision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/donations/:id/receipt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Innovation Center (44 endpoints)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/innovation/giving-circles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/innovation/wishlists/items/:id/pledge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/innovation/volunteer/shifts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/innovation/crm/donors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Admin Dashboard (25 endpoints)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/admin/dashboard — KPI snapshot JSON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/admin/webhooks — Delivery logs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/admin/analytics — Charts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Key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Donation • Volunteer • Help Request • Moderation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Donation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User selects campaign</a:t>
            </a:r>
            <a:br/>
            <a:r>
              <a:t>&amp; payment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164592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POST /initiate</a:t>
            </a:r>
            <a:br/>
            <a:r>
              <a:t>creates payment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709160" y="164592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Payment gateway</a:t>
            </a:r>
            <a:br/>
            <a:r>
              <a:t>processes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1645920"/>
            <a:ext cx="640080" cy="64008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POST /confirm</a:t>
            </a:r>
            <a:br/>
            <a:r>
              <a:t>verifies signature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1645920"/>
            <a:ext cx="640080" cy="64008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Receipt generated</a:t>
            </a:r>
            <a:br/>
            <a:r>
              <a:t>campaign updated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10469880" y="1645920"/>
            <a:ext cx="640080" cy="64008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NGO reviews &amp;</a:t>
            </a:r>
            <a:br/>
            <a:r>
              <a:t>approves certificate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  <a:latin typeface="Calibri"/>
              </a:defRPr>
            </a:pPr>
            <a:r>
              <a:t>Payment Methods: UPI • Credit/Debit Card • Net Banking  |  Gateways: Razorpay (prod) • Mock (dev)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51"/>
                </a:solidFill>
                <a:latin typeface="Calibri"/>
              </a:defRPr>
            </a:pPr>
            <a:r>
              <a:t>Volunteer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Browse opportunities / campaign volunteer roles →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Apply with contact details &amp; motivation →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Complete activity &amp; log hours →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Request certificate →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NGO approves → Certificate issued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&amp;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Gemini LLM • Rule-Based Scoring • RAG Pipeline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AI &amp; Intelligence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21031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88E5"/>
                </a:solidFill>
                <a:latin typeface="Calibri"/>
              </a:defRPr>
            </a:pPr>
            <a:r>
              <a:t>Personalized</a:t>
            </a:r>
            <a:br/>
            <a: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Rule-based scoring using user preferences</a:t>
            </a:r>
            <a:br/>
            <a:r>
              <a:t>(location, interests, causes, skills)</a:t>
            </a:r>
            <a:br/>
            <a:r>
              <a:t>matched against NGO sectors &amp; campaigns.</a:t>
            </a:r>
            <a:br/>
            <a:r>
              <a:t>Top 10 each with scores + reasons.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21031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LLM Chatbot</a:t>
            </a:r>
            <a:br/>
            <a:r>
              <a:t>with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Google Gemini</a:t>
            </a:r>
            <a:br/>
            <a:r>
              <a:t>+ DB retrieval of relevant NGOs/campaigns</a:t>
            </a:r>
            <a:br/>
            <a:r>
              <a:t>+ 13-article Knowledge Base</a:t>
            </a:r>
            <a:br/>
            <a:r>
              <a:t>+ Role-aware prompts + fallback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394960" cy="21031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Campaign</a:t>
            </a:r>
            <a:br/>
            <a: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Keyword-based auto-categorization:</a:t>
            </a:r>
            <a:br/>
            <a:r>
              <a:t>Education, Health, Food,</a:t>
            </a:r>
            <a:br/>
            <a:r>
              <a:t>Disaster Relief, Environment, Other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21031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1FA2"/>
                </a:solidFill>
                <a:latin typeface="Calibri"/>
              </a:defRPr>
            </a:pPr>
            <a:r>
              <a:t>Fraud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Heuristic analysis: verification docs,</a:t>
            </a:r>
            <a:br/>
            <a:r>
              <a:t>account age, suspicious keywords,</a:t>
            </a:r>
            <a:br/>
            <a:r>
              <a:t>unrealistic goals. Flags if score ≥ 50.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Validation &amp; Delivery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Automated scenario coverage, moderation checks, and evidence artifacts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Validation Scorecard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6517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E88E5"/>
                </a:solidFill>
                <a:latin typeface="Calibri"/>
              </a:defRPr>
            </a:pPr>
            <a:r>
              <a:t>35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Smoke Test</a:t>
            </a:r>
            <a:br/>
            <a:r>
              <a:t>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554480"/>
            <a:ext cx="26517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9688"/>
                </a:solidFill>
                <a:latin typeface="Calibri"/>
              </a:defRPr>
            </a:pPr>
            <a:r>
              <a:t>21.69 ms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Avg Step</a:t>
            </a:r>
            <a:br/>
            <a:r>
              <a:t>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54480"/>
            <a:ext cx="2377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6B35"/>
                </a:solidFill>
                <a:latin typeface="Calibri"/>
              </a:defRPr>
            </a:pPr>
            <a:r>
              <a:t>375/375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Flood Scenario</a:t>
            </a:r>
            <a:br/>
            <a: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554480"/>
            <a:ext cx="21945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43A047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Flood</a:t>
            </a:r>
            <a:br/>
            <a:r>
              <a:t>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D51"/>
                </a:solidFill>
                <a:latin typeface="Calibri"/>
              </a:defRPr>
            </a:pPr>
            <a:r>
              <a:t>Latest High-Volume Role Scenario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Flood scenario: 10 users, 4 NGOs, 9 campaigns, 10 donations, 3 endorsements</a:t>
            </a:r>
          </a:p>
          <a:p>
            <a:pPr>
              <a:spcAft>
                <a:spcPts val="7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Role moderation scenario: verified NGOs = 2, rejected NGOs = 1</a:t>
            </a:r>
          </a:p>
          <a:p>
            <a:pPr>
              <a:spcAft>
                <a:spcPts val="7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Flag moderation checks: submitted = 3, resolved = 3</a:t>
            </a:r>
          </a:p>
          <a:p>
            <a:pPr>
              <a:spcAft>
                <a:spcPts val="7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Evidence files: flood_feature_report_20260309120914.json and role_workflow_report_20260309120955.json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Visual Evidence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Screens captured during functional validation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94960" cy="4526280"/>
          </a:xfrm>
          <a:prstGeom prst="roundRect">
            <a:avLst/>
          </a:prstGeom>
          <a:solidFill>
            <a:srgbClr val="F0F4F8"/>
          </a:solidFill>
          <a:ln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526280"/>
          </a:xfrm>
          <a:prstGeom prst="roundRect">
            <a:avLst/>
          </a:prstGeom>
          <a:solidFill>
            <a:srgbClr val="F0F4F8"/>
          </a:solidFill>
          <a:ln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go_team_modal_clickable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19"/>
            <a:ext cx="5029200" cy="3977639"/>
          </a:xfrm>
          <a:prstGeom prst="rect">
            <a:avLst/>
          </a:prstGeom>
        </p:spPr>
      </p:pic>
      <p:pic>
        <p:nvPicPr>
          <p:cNvPr id="9" name="Picture 8" descr="admin_webhooks_after_controls_2026-03-09T11-10-03-075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74519"/>
            <a:ext cx="4663440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897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NGO dashboard interactive team insight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8978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Admin webhook queue + controls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Frontend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React 18 SPA with 31+ Pages &amp; Role-Based Routing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Frontend Page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88E5"/>
                </a:solidFill>
                <a:latin typeface="Calibri"/>
              </a:defRPr>
            </a:pPr>
            <a:r>
              <a:t>Public (8+)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356616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Home — Landing with hero CTA, helplines, categories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Login / Register — Dual-mode (user + NGO)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NGO List &amp; Profile — Search, filter, tabs, charts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Campaign List &amp; Details — Donation + volunteer flows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Chatbot — AI support with suggested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User (12+)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20240"/>
            <a:ext cx="356616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Dashboard — Help requests, donations, volunteers, certs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Donate — Campaign selection, payment, receipts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Volunteer Opportunities — Apply, withdraw, complete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Recommendations — AI-powered with match scores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Innovation Center — Giving Circles, Wishlists, etc.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Admin (8+)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Dashboard — KPI cards, charts, auto-refresh, SSR viewer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Verifications — NGO approval/rejection queue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Flagged Content — Moderation &amp; flag request review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Webhooks — Delivery logs, metrics, replay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Users / Notifications / Categories /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Components: Navbar • ProtectedRoute • UserRoute • AdminRoute • ConfirmModal • PreferencesModal • RecommendedNgos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Deployment &amp;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Backend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PORT = 5001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POSTGRES_URL = postgresql://...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JWT_SECRET = &lt;strong-secret&gt;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GEMINI_API_KEY = &lt;optional&gt;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PAYMENT_GATEWAY_PROVIDER = mock | razorpay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MAIL_HOST / MAIL_USER / MAIL_PASS = &lt;optional&gt;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RAZORPAY_KEY_ID = &lt;optional&gt;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RAZORPAY_KEY_SECRET = &lt;optional&gt;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WEBHOOK_URL / WEBHOOK_SECRET = &lt;optional&gt;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88E5"/>
                </a:solidFill>
                <a:latin typeface="Calibri"/>
              </a:defRPr>
            </a:pPr>
            <a:r>
              <a:t>Setup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npm install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npm run db:relational-schema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npm run seed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npm run dev (backend)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npm start (frontend, port 3000)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npm run smoke (API test)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npm run scenario:flood (full workflow)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npm run scenario:roles (moderation flow)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Seed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Admin:  admin@ngoconnect.org  /  password123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User:   rahul@example.com  /  password123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NGO:    akshayapatra@ngo.org  /  password123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NGO-Connect | Architecture, Delivery, and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Slide 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8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Calibri"/>
              </a:defRPr>
            </a:pPr>
            <a:r>
              <a:t>149 Endpoints  •  35 Tables  •  31+ Pages  •  AI-Powered</a:t>
            </a:r>
            <a:br/>
            <a:r>
              <a:t>Full details: DESIGN_AND_ARCHITECTURE.md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